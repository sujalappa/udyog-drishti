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4" d="100"/>
          <a:sy n="84" d="100"/>
        </p:scale>
        <p:origin x="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07423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Fill every field exactly as entered in the online application form so reviewers can match the deck to the application.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Reviewers look for a clearly defined, real and significant problem backed by evidence. One strong statistic is better than many weak ones. Cite the source for every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clearly how the solution addresses the problem on Slide 2. Compare against what exists today — reviewers score originality and relevance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realistic. A clear, costed plan with an identified adopting department scores better than an ambitious but vague one. Mention any validation already done (tests, user feedback, certifications).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Quantify impact wherever possible and state your assumptions. Where relevant, link the solution to an existing Government scheme, mission or the Sustainable Development Goals.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 only active team members. Be specific about the support requested — it helps the organisers match you with the right mentor, department or incubator.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hyperlink" Target="https://udyog-drishti.onrender.com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udyog-drishti.onrender.com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udyog-drishti.onrender.com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0" kern="0" spc="200" dirty="0" i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•  SUSTAINABILITY - ENERGY, CLIMATE AND OTHERS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3152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 i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Udyog-drishti AI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78308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i="0" dirty="0" b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 monthly satellite check of SO₂ and NO₂ at Maharashtra's large coal power plants and industrial areas: where to inspect first, and whether a scrubber worked. Independent of the plants' own monitors.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852160" y="777240"/>
            <a:ext cx="2834640" cy="3108960"/>
          </a:xfrm>
          <a:prstGeom prst="roundRect">
            <a:avLst>
              <a:gd name="adj" fmla="val 3226"/>
            </a:avLst>
          </a:prstGeom>
          <a:solidFill>
            <a:srgbClr val="253870"/>
          </a:solidFill>
          <a:ln w="12700">
            <a:solidFill>
              <a:srgbClr val="25387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 txBox="1"/>
          <p:nvPr/>
        </p:nvSpPr>
        <p:spPr>
          <a:xfrm>
            <a:off x="6035040" y="9144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 i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Working prototype</a:t>
            </a:r>
            <a:endParaRPr lang="en-US" sz="1300" dirty="0"/>
          </a:p>
        </p:txBody>
      </p:sp>
      <p:sp>
        <p:nvSpPr>
          <p:cNvPr id="20" name="TextBox 19"/>
          <p:cNvSpPr txBox="1"/>
          <p:nvPr/>
        </p:nvSpPr>
        <p:spPr>
          <a:xfrm>
            <a:off x="457200" y="274320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050" b="1">
                <a:solidFill>
                  <a:srgbClr val="F28C28"/>
                </a:solidFill>
                <a:latin typeface="Nirmala UI"/>
              </a:rPr>
              <a:t>Sub-theme: Industrial decarbonisation, pollution control and wastewater reuse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703320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050" b="1">
                <a:solidFill>
                  <a:srgbClr val="FFFFFF"/>
                </a:solidFill>
                <a:latin typeface="Nirmala UI"/>
              </a:rPr>
              <a:t>Sujal Chondekar  ·  Kshitij Mehrotra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C9D2EC"/>
                </a:solidFill>
                <a:latin typeface="Nirmala UI"/>
              </a:rPr>
              <a:t>Mentor: Dr. Swati Hira, Assistant Professor, CSE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C9D2EC"/>
                </a:solidFill>
                <a:latin typeface="Nirmala UI"/>
              </a:rPr>
              <a:t>Indian Institute of Information Technology, Nagpur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280160"/>
            <a:ext cx="2468880" cy="981130"/>
          </a:xfrm>
          <a:prstGeom prst="rect">
            <a:avLst/>
          </a:prstGeom>
          <a:ln>
            <a:solidFill>
              <a:srgbClr val="3A4A7A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6035040" y="2398450"/>
            <a:ext cx="2468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000" b="0">
                <a:solidFill>
                  <a:srgbClr val="FFFFFF"/>
                </a:solidFill>
                <a:latin typeface="Nirmala UI"/>
              </a:rPr>
              <a:t>• 17 plants and industrial areas, monthly since 2019, in ~1 min</a:t>
            </a:r>
          </a:p>
          <a:p>
            <a:pPr>
              <a:spcAft>
                <a:spcPts val="500"/>
              </a:spcAft>
            </a:pPr>
            <a:r>
              <a:rPr sz="1000" b="0">
                <a:solidFill>
                  <a:srgbClr val="FFFFFF"/>
                </a:solidFill>
                <a:latin typeface="Nirmala UI"/>
              </a:rPr>
              <a:t>• Sentinel-5P SO₂ and NO₂; agrees with plants' official filings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FFFFFF"/>
                </a:solidFill>
                <a:latin typeface="Nirmala UI"/>
              </a:rPr>
              <a:t>Live demo: </a:t>
            </a:r>
            <a:r>
              <a:rPr sz="1000" b="1">
                <a:solidFill>
                  <a:srgbClr val="F28C28"/>
                </a:solidFill>
                <a:latin typeface="Nirmala UI"/>
                <a:hlinkClick r:id="rId4"/>
              </a:rPr>
              <a:t>udyog-drishti.onrender.com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2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The Problem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real challenge in society, government service or industry are you solving?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2 of 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274320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 txBox="1"/>
          <p:nvPr/>
        </p:nvSpPr>
        <p:spPr>
          <a:xfrm>
            <a:off x="594360" y="129844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is the problem?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572768"/>
            <a:ext cx="2468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Big industries are checked mainly by stack monitors </a:t>
            </a:r>
            <a:r>
              <a:rPr lang="en-US" sz="10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they run themselves</a:t>
            </a:r>
            <a:r>
              <a:rPr lang="en-US" sz="10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and by occasional inspections. Since July 2025 most coal plants no longer need SO₂</a:t>
            </a:r>
            <a:r>
              <a:rPr lang="en-US" sz="10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scrubbers, and no one independently tracks what each plant and industrial cluster releases, month by month.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83280" y="1188720"/>
            <a:ext cx="274320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 txBox="1"/>
          <p:nvPr/>
        </p:nvSpPr>
        <p:spPr>
          <a:xfrm>
            <a:off x="3520440" y="129844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Who is affected, and where?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520440" y="1572768"/>
            <a:ext cx="2468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People living near Maharashtra's coal plants and </a:t>
            </a:r>
            <a:r>
              <a:rPr lang="en-US" sz="10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critically polluted clusters</a:t>
            </a:r>
            <a:r>
              <a:rPr lang="en-US" sz="10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: Chandrapur, Koradi–Khaparkheda (Nagpur), Tarapur, Taloja, Dombivli. Also MPCB, CPCB and NGT committees, who need independent evidence to act.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971800"/>
            <a:ext cx="274320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 txBox="1"/>
          <p:nvPr/>
        </p:nvSpPr>
        <p:spPr>
          <a:xfrm>
            <a:off x="594360" y="308152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Evidence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3355848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8016" indent="-128016">
              <a:spcAft>
                <a:spcPts val="300"/>
              </a:spcAft>
              <a:buChar char="•"/>
            </a:pP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Koradi, Khaparkheda, Tiroda, Mauda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: 9,360 MW exempted from SO₂ scrubbers (Jul 2025)</a:t>
            </a:r>
            <a:endParaRPr lang="en-US" sz="1000" dirty="0"/>
          </a:p>
          <a:p>
            <a:pPr marL="128016" indent="-128016">
              <a:spcAft>
                <a:spcPts val="300"/>
              </a:spcAft>
              <a:buChar char="•"/>
            </a:pP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Chandrapur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: own stack reports show SO₂ </a:t>
            </a: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~6× the limit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(2024–26)</a:t>
            </a:r>
          </a:p>
          <a:p>
            <a:pPr marL="128016" indent="-128016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Nagpur over the PM10 limit on </a:t>
            </a: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46 of 92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spring days in 2026</a:t>
            </a:r>
          </a:p>
        </p:txBody>
      </p:sp>
      <p:sp>
        <p:nvSpPr>
          <p:cNvPr id="16" name="Shape 14"/>
          <p:cNvSpPr/>
          <p:nvPr/>
        </p:nvSpPr>
        <p:spPr>
          <a:xfrm>
            <a:off x="3383280" y="2971800"/>
            <a:ext cx="274320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 txBox="1"/>
          <p:nvPr/>
        </p:nvSpPr>
        <p:spPr>
          <a:xfrm>
            <a:off x="3520440" y="308152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Current gaps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520440" y="3355848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8016" indent="-128016">
              <a:spcAft>
                <a:spcPts val="300"/>
              </a:spcAft>
              <a:buChar char="•"/>
            </a:pP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Self-reported monitors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(OCEMS): run by the plant, with gaps and poor data quality</a:t>
            </a:r>
            <a:endParaRPr lang="en-US" sz="1000" dirty="0"/>
          </a:p>
          <a:p>
            <a:pPr marL="128016" indent="-128016">
              <a:spcAft>
                <a:spcPts val="300"/>
              </a:spcAft>
              <a:buChar char="•"/>
            </a:pP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Inspections are occasional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; no picture between visits</a:t>
            </a:r>
          </a:p>
          <a:p>
            <a:pPr marL="128016" indent="-128016">
              <a:spcAft>
                <a:spcPts val="300"/>
              </a:spcAft>
              <a:buChar char="•"/>
            </a:pP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No independent check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that scrubbers or effluent plants actually cut pollution</a:t>
            </a:r>
          </a:p>
        </p:txBody>
      </p:sp>
      <p:sp>
        <p:nvSpPr>
          <p:cNvPr id="19" name="Shape 17"/>
          <p:cNvSpPr/>
          <p:nvPr/>
        </p:nvSpPr>
        <p:spPr>
          <a:xfrm>
            <a:off x="6309360" y="1188720"/>
            <a:ext cx="2377440" cy="3429000"/>
          </a:xfrm>
          <a:prstGeom prst="roundRect">
            <a:avLst>
              <a:gd name="adj" fmla="val 3846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 txBox="1"/>
          <p:nvPr/>
        </p:nvSpPr>
        <p:spPr>
          <a:xfrm>
            <a:off x="6400800" y="1508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2800" b="1" dirty="0" i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78%</a:t>
            </a:r>
            <a:endParaRPr lang="en-US" sz="2400" dirty="0"/>
          </a:p>
        </p:txBody>
      </p:sp>
      <p:sp>
        <p:nvSpPr>
          <p:cNvPr id="21" name="Text 19"/>
          <p:cNvSpPr txBox="1"/>
          <p:nvPr/>
        </p:nvSpPr>
        <p:spPr>
          <a:xfrm>
            <a:off x="6492240" y="22860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050" i="0" dirty="0" b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of India's coal power units no longer need SO₂ scrubbers (July 2025)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492240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492240" y="33832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000" i="0" dirty="0" b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Sulphur and ash keep reaching lungs, farms and rivers around Nagpur and Chandrapur, and the only proof of compliance is the polluter's own data.</a:t>
            </a:r>
            <a:endParaRPr lang="en-US" sz="1000" dirty="0"/>
          </a:p>
        </p:txBody>
      </p:sp>
      <p:sp>
        <p:nvSpPr>
          <p:cNvPr id="24" name="Sources"/>
          <p:cNvSpPr txBox="1"/>
          <p:nvPr/>
        </p:nvSpPr>
        <p:spPr>
          <a:xfrm>
            <a:off x="457200" y="4663440"/>
            <a:ext cx="49377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00">
                <a:solidFill>
                  <a:srgbClr val="6B7280"/>
                </a:solidFill>
                <a:latin typeface="Nirmala UI"/>
              </a:rPr>
              <a:t>Sources: MoEFCC notification, 11 Jul 2025; Mahagenco CSTPS EC compliance reports to MoEF&amp;CC, 2024–26; TechTimes analysis of CPCB data, Aug 2026; CEEW 2024 and CSE on OCEMS; CREA, Jul 2026.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3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Our Solution &amp; Innovation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have you built or designed, how does it work, and what is new about it?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3 of 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1887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Our solution in brief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481328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Udyog-drishti AI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tracks </a:t>
            </a: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SO₂ and NO₂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over every big plant each month from Sentinel-5P, </a:t>
            </a: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independent of plant monitors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: where to inspect, and if scrubbers work.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3774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How it works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724912"/>
            <a:ext cx="1170432" cy="1783080"/>
          </a:xfrm>
          <a:prstGeom prst="roundRect">
            <a:avLst>
              <a:gd name="adj" fmla="val 625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859536" y="2834640"/>
            <a:ext cx="365760" cy="36576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 txBox="1"/>
          <p:nvPr/>
        </p:nvSpPr>
        <p:spPr>
          <a:xfrm>
            <a:off x="859536" y="2834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1</a:t>
            </a:r>
            <a:endParaRPr lang="en-US" sz="1120" dirty="0"/>
          </a:p>
        </p:txBody>
      </p:sp>
      <p:sp>
        <p:nvSpPr>
          <p:cNvPr id="13" name="Text 11"/>
          <p:cNvSpPr txBox="1"/>
          <p:nvPr/>
        </p:nvSpPr>
        <p:spPr>
          <a:xfrm>
            <a:off x="530352" y="3273552"/>
            <a:ext cx="1024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Input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566160"/>
            <a:ext cx="987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8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Plant list, or any industrial area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627632" y="329184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›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1828800" y="2724912"/>
            <a:ext cx="1170432" cy="1783080"/>
          </a:xfrm>
          <a:prstGeom prst="roundRect">
            <a:avLst>
              <a:gd name="adj" fmla="val 625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Shape 15"/>
          <p:cNvSpPr/>
          <p:nvPr/>
        </p:nvSpPr>
        <p:spPr>
          <a:xfrm>
            <a:off x="2231136" y="2834640"/>
            <a:ext cx="365760" cy="36576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 txBox="1"/>
          <p:nvPr/>
        </p:nvSpPr>
        <p:spPr>
          <a:xfrm>
            <a:off x="2231136" y="2834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2</a:t>
            </a:r>
            <a:endParaRPr lang="en-US" sz="1120" dirty="0"/>
          </a:p>
        </p:txBody>
      </p:sp>
      <p:sp>
        <p:nvSpPr>
          <p:cNvPr id="19" name="Text 17"/>
          <p:cNvSpPr txBox="1"/>
          <p:nvPr/>
        </p:nvSpPr>
        <p:spPr>
          <a:xfrm>
            <a:off x="1901952" y="3273552"/>
            <a:ext cx="1024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Process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1920240" y="3566160"/>
            <a:ext cx="987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8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SO₂ and NO₂ above local background, monthly since 2019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2999232" y="329184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›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3200400" y="2724912"/>
            <a:ext cx="1170432" cy="1783080"/>
          </a:xfrm>
          <a:prstGeom prst="roundRect">
            <a:avLst>
              <a:gd name="adj" fmla="val 625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Shape 21"/>
          <p:cNvSpPr/>
          <p:nvPr/>
        </p:nvSpPr>
        <p:spPr>
          <a:xfrm>
            <a:off x="3602736" y="2834640"/>
            <a:ext cx="365760" cy="36576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 txBox="1"/>
          <p:nvPr/>
        </p:nvSpPr>
        <p:spPr>
          <a:xfrm>
            <a:off x="3602736" y="2834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3</a:t>
            </a:r>
            <a:endParaRPr lang="en-US" sz="1120" dirty="0"/>
          </a:p>
        </p:txBody>
      </p:sp>
      <p:sp>
        <p:nvSpPr>
          <p:cNvPr id="25" name="Text 23"/>
          <p:cNvSpPr txBox="1"/>
          <p:nvPr/>
        </p:nvSpPr>
        <p:spPr>
          <a:xfrm>
            <a:off x="3273552" y="3273552"/>
            <a:ext cx="1024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Output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3291840" y="3566160"/>
            <a:ext cx="987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8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Inspect-first list, scrubber check, maps, PDF and KML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4754880" y="11887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makes it new?</a:t>
            </a:r>
            <a:endParaRPr lang="en-US" sz="13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1536192"/>
          <a:ext cx="3931920" cy="192024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Existing approach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Our approach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 i="0">
                          <a:solidFill>
                            <a:srgbClr val="1B2A5C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Cost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0" dirty="0" b="0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Inspections and stack audits, plant by plant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0" dirty="0" b="1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Free satellite data; one small server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 i="0">
                          <a:solidFill>
                            <a:srgbClr val="1B2A5C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Speed / time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0" dirty="0" b="0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Occasional visits; monitor data from the plant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0" dirty="0" b="1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All of Maharashtra in ~1 min, every month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 i="0">
                          <a:solidFill>
                            <a:srgbClr val="1B2A5C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Reach / access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0" dirty="0" b="0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Self-reported monitors, often with gaps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0" dirty="0" b="1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17 sites, every month since 2019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 i="0">
                          <a:solidFill>
                            <a:srgbClr val="1B2A5C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Ease of use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0" dirty="0" b="0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Portals per plant, rarely public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0" dirty="0" b="1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One map, ranked list, before/after check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9" name="Text 26"/>
          <p:cNvSpPr txBox="1"/>
          <p:nvPr/>
        </p:nvSpPr>
        <p:spPr>
          <a:xfrm>
            <a:off x="4754880" y="361188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Key USP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4754880" y="388620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Independent of the polluter's data, yet it agrees with official filings: </a:t>
            </a: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Chandrapur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(flagged here) reports SO₂ ~6× the limit; </a:t>
            </a: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Mauda's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SO₂ ÷ NO₂ fell 38% vs 14% at unscrubbed plants, and NTPC confirms its scrubbers.</a:t>
            </a:r>
            <a:endParaRPr lang="en-US" sz="1000" dirty="0"/>
          </a:p>
        </p:txBody>
      </p:sp>
      <p:pic>
        <p:nvPicPr>
          <p:cNvPr id="31" name="Picture 30" descr="app_st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0" y="1463040"/>
            <a:ext cx="1737360" cy="690425"/>
          </a:xfrm>
          <a:prstGeom prst="rect">
            <a:avLst/>
          </a:prstGeom>
          <a:ln>
            <a:solidFill>
              <a:srgbClr val="D9DEEA"/>
            </a:solidFill>
          </a:ln>
        </p:spPr>
      </p:pic>
      <p:sp>
        <p:nvSpPr>
          <p:cNvPr id="32" name="TextBox 31"/>
          <p:cNvSpPr txBox="1"/>
          <p:nvPr/>
        </p:nvSpPr>
        <p:spPr>
          <a:xfrm>
            <a:off x="2651760" y="2180897"/>
            <a:ext cx="17373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6B7280"/>
                </a:solidFill>
                <a:latin typeface="Nirmala UI"/>
              </a:rPr>
              <a:t>Working prototype: Maharashtra, Sep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4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Feasibility &amp; Implementation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How ready is the solution, and what will it take to implement it on the ground?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4 of 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17043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Current stage (mark ✔ where you are today)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14400" y="1783080"/>
            <a:ext cx="7315200" cy="0"/>
          </a:xfrm>
          <a:prstGeom prst="line">
            <a:avLst/>
          </a:prstGeom>
          <a:noFill/>
          <a:ln w="25400">
            <a:solidFill>
              <a:srgbClr val="C3CAE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758952" y="1627632"/>
            <a:ext cx="310896" cy="310896"/>
          </a:xfrm>
          <a:prstGeom prst="ellipse">
            <a:avLst/>
          </a:prstGeom>
          <a:solidFill>
            <a:srgbClr val="FBD9B5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 txBox="1"/>
          <p:nvPr/>
        </p:nvSpPr>
        <p:spPr>
          <a:xfrm>
            <a:off x="1828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Idea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587752" y="1627632"/>
            <a:ext cx="310896" cy="310896"/>
          </a:xfrm>
          <a:prstGeom prst="ellipse">
            <a:avLst/>
          </a:prstGeom>
          <a:solidFill>
            <a:srgbClr val="FBD9B5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 txBox="1"/>
          <p:nvPr/>
        </p:nvSpPr>
        <p:spPr>
          <a:xfrm>
            <a:off x="20116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Proof of Concept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416552" y="1627632"/>
            <a:ext cx="310896" cy="310896"/>
          </a:xfrm>
          <a:prstGeom prst="ellipse">
            <a:avLst/>
          </a:prstGeom>
          <a:solidFill>
            <a:srgbClr val="F28C28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 txBox="1"/>
          <p:nvPr/>
        </p:nvSpPr>
        <p:spPr>
          <a:xfrm>
            <a:off x="38404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000" b="1" dirty="0" i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Working Prototype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245352" y="1627632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 txBox="1"/>
          <p:nvPr/>
        </p:nvSpPr>
        <p:spPr>
          <a:xfrm>
            <a:off x="56692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Field Pilot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074152" y="1627632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 txBox="1"/>
          <p:nvPr/>
        </p:nvSpPr>
        <p:spPr>
          <a:xfrm>
            <a:off x="74980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Ready to Deploy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2514600"/>
            <a:ext cx="1920240" cy="210312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 txBox="1"/>
          <p:nvPr/>
        </p:nvSpPr>
        <p:spPr>
          <a:xfrm>
            <a:off x="594360" y="26243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Technology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2898648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Google Earth Engine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+ web map app</a:t>
            </a:r>
            <a:endParaRPr lang="en-US" sz="1000" dirty="0"/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Data: 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Sentinel-5P SO₂ and NO₂ (daily)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Method: 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ring background; ratio vs exempt plants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Next: 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drone gas sensors at flagged stacks; methane (EMIT)</a:t>
            </a:r>
          </a:p>
        </p:txBody>
      </p:sp>
      <p:sp>
        <p:nvSpPr>
          <p:cNvPr id="22" name="Shape 20"/>
          <p:cNvSpPr/>
          <p:nvPr/>
        </p:nvSpPr>
        <p:spPr>
          <a:xfrm>
            <a:off x="2560320" y="2514600"/>
            <a:ext cx="1920240" cy="210312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 txBox="1"/>
          <p:nvPr/>
        </p:nvSpPr>
        <p:spPr>
          <a:xfrm>
            <a:off x="2697480" y="26243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Estimated cost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697480" y="2898648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Data: ₹0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(free Copernicus data)</a:t>
            </a:r>
            <a:endParaRPr lang="en-US" sz="1000" dirty="0"/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Server: ~₹5,000 / month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for the state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Pilot: under ₹2 lakh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, mostly stack tests to check the flags</a:t>
            </a:r>
          </a:p>
        </p:txBody>
      </p:sp>
      <p:sp>
        <p:nvSpPr>
          <p:cNvPr id="25" name="Shape 23"/>
          <p:cNvSpPr/>
          <p:nvPr/>
        </p:nvSpPr>
        <p:spPr>
          <a:xfrm>
            <a:off x="4663440" y="2514600"/>
            <a:ext cx="1920240" cy="210312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 txBox="1"/>
          <p:nvPr/>
        </p:nvSpPr>
        <p:spPr>
          <a:xfrm>
            <a:off x="4800600" y="26243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Timeline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4800600" y="2898648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3 months: 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Nagpur–Chandrapur pilot with MPCB; compare with stack tests</a:t>
            </a:r>
            <a:endParaRPr lang="en-US" sz="1000" dirty="0"/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6 months: 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every coal plant statewide; monthly report card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12 months: 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cement, steel, refineries; effluent watch at MIDCs</a:t>
            </a:r>
          </a:p>
        </p:txBody>
      </p:sp>
      <p:sp>
        <p:nvSpPr>
          <p:cNvPr id="28" name="Shape 26"/>
          <p:cNvSpPr/>
          <p:nvPr/>
        </p:nvSpPr>
        <p:spPr>
          <a:xfrm>
            <a:off x="6766560" y="2514600"/>
            <a:ext cx="1920240" cy="210312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Text 27"/>
          <p:cNvSpPr txBox="1"/>
          <p:nvPr/>
        </p:nvSpPr>
        <p:spPr>
          <a:xfrm>
            <a:off x="6903720" y="26243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Partners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903720" y="2898648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Maharashtra Pollution Control Board (MPCB)</a:t>
            </a:r>
            <a:endParaRPr lang="en-US" sz="1000" dirty="0"/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Mahagenco and NTPC environment teams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CPCB; State Environment Department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MRSAC, Nagpur (state remote sensing centre)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16552" y="162763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irmala UI"/>
              </a:rPr>
              <a:t>✔</a:t>
            </a:r>
          </a:p>
        </p:txBody>
      </p:sp>
      <p:sp>
        <p:nvSpPr>
          <p:cNvPr id="32" name="Demo link"/>
          <p:cNvSpPr txBox="1"/>
          <p:nvPr/>
        </p:nvSpPr>
        <p:spPr>
          <a:xfrm>
            <a:off x="4846320" y="1170432"/>
            <a:ext cx="38404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1">
                <a:solidFill>
                  <a:srgbClr val="1B2A5C"/>
                </a:solidFill>
                <a:latin typeface="Nirmala UI"/>
              </a:rPr>
              <a:t>Live prototype: </a:t>
            </a:r>
            <a:r>
              <a:rPr sz="1050" b="1">
                <a:solidFill>
                  <a:srgbClr val="F28C28"/>
                </a:solidFill>
                <a:latin typeface="Nirmala UI"/>
                <a:hlinkClick r:id="rId3"/>
              </a:rPr>
              <a:t>udyog-drishti.onrender.com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5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Impact &amp; Scalability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change will your solution create, and how can it grow beyond the first location?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5 of 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 txBox="1"/>
          <p:nvPr/>
        </p:nvSpPr>
        <p:spPr>
          <a:xfrm>
            <a:off x="548640" y="12801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2600" b="1" dirty="0" i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22,020 MW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93852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100" b="1" dirty="0" i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Coal capacity watched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21284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900" i="0" dirty="0" b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14 plant sites and 3 industrial areas, monthly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64408" y="118872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 txBox="1"/>
          <p:nvPr/>
        </p:nvSpPr>
        <p:spPr>
          <a:xfrm>
            <a:off x="3355848" y="12801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2400" b="1" dirty="0" i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Months → 1 min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3355848" y="193852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100" b="1" dirty="0" i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Saving in time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355848" y="221284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900" i="0" dirty="0" b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statewide screen vs plant-by-plant inspection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071616" y="118872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 txBox="1"/>
          <p:nvPr/>
        </p:nvSpPr>
        <p:spPr>
          <a:xfrm>
            <a:off x="6163056" y="12801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2800" b="1" dirty="0" i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3 of 3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6163056" y="193852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100" b="1" dirty="0" i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Checks vs official filings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163056" y="221284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900" i="0" dirty="0" b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Chandrapur, Koradi, Mauda agree with stack and scrubber records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" y="2834640"/>
            <a:ext cx="26060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 txBox="1"/>
          <p:nvPr/>
        </p:nvSpPr>
        <p:spPr>
          <a:xfrm>
            <a:off x="594360" y="294436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Social impact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3218688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Inspections go first where SO₂ is highest</a:t>
            </a:r>
            <a:endParaRPr lang="en-US" sz="1000" dirty="0"/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Cleaner air around Nagpur and Chandrapur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Public check on scrubber spending and exemptions</a:t>
            </a:r>
          </a:p>
        </p:txBody>
      </p:sp>
      <p:sp>
        <p:nvSpPr>
          <p:cNvPr id="22" name="Shape 20"/>
          <p:cNvSpPr/>
          <p:nvPr/>
        </p:nvSpPr>
        <p:spPr>
          <a:xfrm>
            <a:off x="3264408" y="2834640"/>
            <a:ext cx="26060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 txBox="1"/>
          <p:nvPr/>
        </p:nvSpPr>
        <p:spPr>
          <a:xfrm>
            <a:off x="3401568" y="294436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Sustainability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3401568" y="3218688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Runs on free satellite data</a:t>
            </a:r>
            <a:endParaRPr lang="en-US" sz="1000" dirty="0"/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Low server cost fits an MPCB budget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Can be hosted by MRSAC; open-source code</a:t>
            </a:r>
          </a:p>
        </p:txBody>
      </p:sp>
      <p:sp>
        <p:nvSpPr>
          <p:cNvPr id="25" name="Shape 23"/>
          <p:cNvSpPr/>
          <p:nvPr/>
        </p:nvSpPr>
        <p:spPr>
          <a:xfrm>
            <a:off x="6071616" y="2834640"/>
            <a:ext cx="26060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 txBox="1"/>
          <p:nvPr/>
        </p:nvSpPr>
        <p:spPr>
          <a:xfrm>
            <a:off x="6208776" y="294436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Scale-up plan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208776" y="3218688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Any Indian state: the satellite is global</a:t>
            </a:r>
            <a:endParaRPr lang="en-US" sz="1000" dirty="0"/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Carbon-market sectors: cement, steel, refineries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Next: drone gas checks; landfill methane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68172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6B7280"/>
                </a:solidFill>
                <a:latin typeface="Nirmala UI"/>
              </a:rPr>
              <a:t>Sources: Global Power Plant Database (capacity); Udyog-drishti run, Jan 2019–Sep 2026; Mahagenco and NTPC EC compliance reports to MoEF&amp;CC (2024–26). Server cost is an estimate.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6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Team/Individual &amp; Support Required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Who is behind the idea, and what help do you need from the Challenge?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2103120" cy="1143000"/>
          </a:xfrm>
          <a:prstGeom prst="roundRect">
            <a:avLst>
              <a:gd name="adj" fmla="val 6400"/>
            </a:avLst>
          </a:prstGeom>
          <a:solidFill>
            <a:srgbClr val="253870"/>
          </a:solidFill>
          <a:ln w="12700">
            <a:solidFill>
              <a:srgbClr val="25387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594360" y="1371600"/>
            <a:ext cx="502920" cy="502920"/>
          </a:xfrm>
          <a:prstGeom prst="ellipse">
            <a:avLst/>
          </a:prstGeom>
          <a:solidFill>
            <a:srgbClr val="3A4C85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 txBox="1"/>
          <p:nvPr/>
        </p:nvSpPr>
        <p:spPr>
          <a:xfrm>
            <a:off x="59436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100" dirty="0" i="0" b="1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SC</a:t>
            </a:r>
            <a:endParaRPr lang="en-US" sz="7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135331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50" b="1" dirty="0" i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Sujal Chondekar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160934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900" i="0" dirty="0" b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Lead developer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182880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800" i="0" dirty="0" b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B.Tech CSE, IIIT Nagpur · satellite analysis, web app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2697480" y="1188720"/>
            <a:ext cx="2103120" cy="1143000"/>
          </a:xfrm>
          <a:prstGeom prst="roundRect">
            <a:avLst>
              <a:gd name="adj" fmla="val 6400"/>
            </a:avLst>
          </a:prstGeom>
          <a:solidFill>
            <a:srgbClr val="253870"/>
          </a:solidFill>
          <a:ln w="12700">
            <a:solidFill>
              <a:srgbClr val="25387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2834640" y="1371600"/>
            <a:ext cx="502920" cy="502920"/>
          </a:xfrm>
          <a:prstGeom prst="ellipse">
            <a:avLst/>
          </a:prstGeom>
          <a:solidFill>
            <a:srgbClr val="3A4C85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 txBox="1"/>
          <p:nvPr/>
        </p:nvSpPr>
        <p:spPr>
          <a:xfrm>
            <a:off x="283464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100" dirty="0" i="0" b="1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KM</a:t>
            </a:r>
            <a:endParaRPr lang="en-US" sz="700" dirty="0"/>
          </a:p>
        </p:txBody>
      </p:sp>
      <p:sp>
        <p:nvSpPr>
          <p:cNvPr id="15" name="Text 13"/>
          <p:cNvSpPr txBox="1"/>
          <p:nvPr/>
        </p:nvSpPr>
        <p:spPr>
          <a:xfrm>
            <a:off x="3447288" y="135331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50" b="1" dirty="0" i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Kshitij Mehrotra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3447288" y="160934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900" i="0" dirty="0" b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Developer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3447288" y="182880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800" i="0" dirty="0" b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B.Tech CSE, IIIT Nagpur · data and validation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57200" y="2468880"/>
            <a:ext cx="2103120" cy="1143000"/>
          </a:xfrm>
          <a:prstGeom prst="roundRect">
            <a:avLst>
              <a:gd name="adj" fmla="val 6400"/>
            </a:avLst>
          </a:prstGeom>
          <a:solidFill>
            <a:srgbClr val="253870"/>
          </a:solidFill>
          <a:ln w="12700">
            <a:solidFill>
              <a:srgbClr val="25387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Shape 17"/>
          <p:cNvSpPr/>
          <p:nvPr/>
        </p:nvSpPr>
        <p:spPr>
          <a:xfrm>
            <a:off x="594360" y="2651760"/>
            <a:ext cx="502920" cy="502920"/>
          </a:xfrm>
          <a:prstGeom prst="ellipse">
            <a:avLst/>
          </a:prstGeom>
          <a:solidFill>
            <a:srgbClr val="3A4C85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 txBox="1"/>
          <p:nvPr/>
        </p:nvSpPr>
        <p:spPr>
          <a:xfrm>
            <a:off x="594360" y="2651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100" dirty="0" i="0" b="1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SH</a:t>
            </a:r>
            <a:endParaRPr lang="en-US" sz="700" dirty="0"/>
          </a:p>
        </p:txBody>
      </p:sp>
      <p:sp>
        <p:nvSpPr>
          <p:cNvPr id="21" name="Text 19"/>
          <p:cNvSpPr txBox="1"/>
          <p:nvPr/>
        </p:nvSpPr>
        <p:spPr>
          <a:xfrm>
            <a:off x="1207008" y="263347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50" b="1" dirty="0" i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Dr. Swati Hira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1207008" y="288950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900" i="0" dirty="0" b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Faculty mentor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207008" y="310896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800" i="0" dirty="0" b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Assistant Professor, CSE, IIIT Nagpur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384048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950" i="0" dirty="0" b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Indian Institute of Information Technology, Nagpur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120640" y="1188720"/>
            <a:ext cx="3566160" cy="338328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 txBox="1"/>
          <p:nvPr/>
        </p:nvSpPr>
        <p:spPr>
          <a:xfrm>
            <a:off x="5303520" y="13258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Support we are seeking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349240" y="1764792"/>
            <a:ext cx="182880" cy="182880"/>
          </a:xfrm>
          <a:prstGeom prst="rect">
            <a:avLst/>
          </a:prstGeom>
          <a:solidFill>
            <a:srgbClr val="F28C28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Text 32"/>
          <p:cNvSpPr txBox="1"/>
          <p:nvPr/>
        </p:nvSpPr>
        <p:spPr>
          <a:xfrm>
            <a:off x="5669280" y="173736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Mentorship &amp; technical guidance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5349240" y="2148840"/>
            <a:ext cx="182880" cy="182880"/>
          </a:xfrm>
          <a:prstGeom prst="rect">
            <a:avLst/>
          </a:prstGeom>
          <a:solidFill>
            <a:srgbClr val="F28C28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Text 34"/>
          <p:cNvSpPr txBox="1"/>
          <p:nvPr/>
        </p:nvSpPr>
        <p:spPr>
          <a:xfrm>
            <a:off x="5669280" y="212140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Pilot with a government department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5349240" y="2532888"/>
            <a:ext cx="182880" cy="182880"/>
          </a:xfrm>
          <a:prstGeom prst="rect">
            <a:avLst/>
          </a:prstGeom>
          <a:solidFill>
            <a:srgbClr val="F28C28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8" name="Text 36"/>
          <p:cNvSpPr txBox="1"/>
          <p:nvPr/>
        </p:nvSpPr>
        <p:spPr>
          <a:xfrm>
            <a:off x="5669280" y="2505456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Funding / grant support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5349240" y="2916936"/>
            <a:ext cx="182880" cy="182880"/>
          </a:xfrm>
          <a:prstGeom prst="rect">
            <a:avLst/>
          </a:prstGeom>
          <a:solidFill>
            <a:srgbClr val="FFFFFF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0" name="Text 38"/>
          <p:cNvSpPr txBox="1"/>
          <p:nvPr/>
        </p:nvSpPr>
        <p:spPr>
          <a:xfrm>
            <a:off x="5669280" y="288950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Incubation &amp; workspace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5349240" y="3300984"/>
            <a:ext cx="182880" cy="182880"/>
          </a:xfrm>
          <a:prstGeom prst="rect">
            <a:avLst/>
          </a:prstGeom>
          <a:solidFill>
            <a:srgbClr val="FFFFFF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2" name="Text 40"/>
          <p:cNvSpPr txBox="1"/>
          <p:nvPr/>
        </p:nvSpPr>
        <p:spPr>
          <a:xfrm>
            <a:off x="5669280" y="327355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Testing, certification or IP support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5303520" y="37033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 Nagpur–Chandrapur pilot with MPCB would test the satellite flags against stack tests and plant monitors, and give every big plant a monthly report card.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457200" y="422452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050" b="1" dirty="0" i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Thank you  |  sujalchondhekar@gmail.com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50" b="1" dirty="0" i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Live demo: </a:t>
            </a:r>
            <a:r>
              <a:rPr lang="en-US" sz="1050" b="1" dirty="0" i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  <a:hlinkClick r:id="rId3"/>
              </a:rPr>
              <a:t>udyog-drishti.onrender.com</a:t>
            </a:r>
          </a:p>
        </p:txBody>
      </p:sp>
      <p:sp>
        <p:nvSpPr>
          <p:cNvPr id="45" name="Text 43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6 of 6</a:t>
            </a:r>
            <a:endParaRPr lang="en-US" sz="800" dirty="0"/>
          </a:p>
        </p:txBody>
      </p:sp>
      <p:sp>
        <p:nvSpPr>
          <p:cNvPr id="46" name="TextBox 45"/>
          <p:cNvSpPr txBox="1"/>
          <p:nvPr/>
        </p:nvSpPr>
        <p:spPr>
          <a:xfrm>
            <a:off x="5349240" y="1764792"/>
            <a:ext cx="18288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Nirmala UI"/>
              </a:rPr>
              <a:t>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349240" y="2148840"/>
            <a:ext cx="18288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Nirmala UI"/>
              </a:rPr>
              <a:t>✔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49240" y="2532888"/>
            <a:ext cx="18288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Nirmala UI"/>
              </a:rPr>
              <a:t>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F28C28"/>
      </a:hlink>
      <a:folHlink>
        <a:srgbClr val="F28C28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1008</Words>
  <Application>Microsoft Office PowerPoint</Application>
  <PresentationFormat>On-screen Show (16:9)</PresentationFormat>
  <Paragraphs>138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Nirmala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Seva Innovation Challenge – Reference Pitch Deck</dc:title>
  <dc:subject>PptxGenJS Presentation</dc:subject>
  <dc:creator>PptxGenJS</dc:creator>
  <cp:lastModifiedBy>ceo_ispark@mssu.ac.in</cp:lastModifiedBy>
  <cp:revision>4</cp:revision>
  <dcterms:created xsi:type="dcterms:W3CDTF">2026-09-23T13:40:13Z</dcterms:created>
  <dcterms:modified xsi:type="dcterms:W3CDTF">2026-09-23T13:46:30Z</dcterms:modified>
</cp:coreProperties>
</file>